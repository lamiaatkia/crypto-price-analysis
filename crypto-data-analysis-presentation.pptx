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 Actual</c:v>
                </c:pt>
              </c:strCache>
            </c:strRef>
          </c:tx>
          <c:spPr>
            <a:ln w="25400" cap="flat">
              <a:solidFill>
                <a:srgbClr val="F7B73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B731"/>
              </a:solidFill>
              <a:ln w="9525" cap="flat">
                <a:solidFill>
                  <a:srgbClr val="F7B731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  <c:pt idx="15">
                  <c:v>Day 16</c:v>
                </c:pt>
                <c:pt idx="16">
                  <c:v>Day 17</c:v>
                </c:pt>
                <c:pt idx="17">
                  <c:v>Day 18</c:v>
                </c:pt>
                <c:pt idx="18">
                  <c:v>Day 19</c:v>
                </c:pt>
                <c:pt idx="19">
                  <c:v>Day 20</c:v>
                </c:pt>
                <c:pt idx="20">
                  <c:v>Day 21</c:v>
                </c:pt>
                <c:pt idx="21">
                  <c:v>Day 22</c:v>
                </c:pt>
                <c:pt idx="22">
                  <c:v>Day 23</c:v>
                </c:pt>
                <c:pt idx="23">
                  <c:v>Day 24</c:v>
                </c:pt>
                <c:pt idx="24">
                  <c:v>Day 25</c:v>
                </c:pt>
                <c:pt idx="25">
                  <c:v>Day 26</c:v>
                </c:pt>
                <c:pt idx="26">
                  <c:v>Day 27</c:v>
                </c:pt>
                <c:pt idx="27">
                  <c:v>Day 28</c:v>
                </c:pt>
                <c:pt idx="28">
                  <c:v>Day 29</c:v>
                </c:pt>
                <c:pt idx="29">
                  <c:v>Day 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124414</c:v>
                </c:pt>
                <c:pt idx="1">
                  <c:v>117443</c:v>
                </c:pt>
                <c:pt idx="2">
                  <c:v>112874</c:v>
                </c:pt>
                <c:pt idx="3">
                  <c:v>117061</c:v>
                </c:pt>
                <c:pt idx="4">
                  <c:v>116758</c:v>
                </c:pt>
                <c:pt idx="5">
                  <c:v>108069</c:v>
                </c:pt>
                <c:pt idx="6">
                  <c:v>117118</c:v>
                </c:pt>
                <c:pt idx="7">
                  <c:v>116305</c:v>
                </c:pt>
                <c:pt idx="8">
                  <c:v>119360</c:v>
                </c:pt>
                <c:pt idx="9">
                  <c:v>123211</c:v>
                </c:pt>
                <c:pt idx="10">
                  <c:v>120505</c:v>
                </c:pt>
                <c:pt idx="11">
                  <c:v>115449</c:v>
                </c:pt>
                <c:pt idx="12">
                  <c:v>112352</c:v>
                </c:pt>
                <c:pt idx="13">
                  <c:v>125073</c:v>
                </c:pt>
                <c:pt idx="14">
                  <c:v>116122</c:v>
                </c:pt>
                <c:pt idx="15">
                  <c:v>115818</c:v>
                </c:pt>
                <c:pt idx="16">
                  <c:v>115548</c:v>
                </c:pt>
                <c:pt idx="17">
                  <c:v>116196</c:v>
                </c:pt>
                <c:pt idx="18">
                  <c:v>114875</c:v>
                </c:pt>
                <c:pt idx="19">
                  <c:v>113258</c:v>
                </c:pt>
                <c:pt idx="20">
                  <c:v>113246</c:v>
                </c:pt>
                <c:pt idx="21">
                  <c:v>114948</c:v>
                </c:pt>
                <c:pt idx="22">
                  <c:v>113071</c:v>
                </c:pt>
                <c:pt idx="23">
                  <c:v>112397</c:v>
                </c:pt>
                <c:pt idx="24">
                  <c:v>115193</c:v>
                </c:pt>
                <c:pt idx="25">
                  <c:v>113865</c:v>
                </c:pt>
                <c:pt idx="26">
                  <c:v>119967</c:v>
                </c:pt>
                <c:pt idx="27">
                  <c:v>105379</c:v>
                </c:pt>
                <c:pt idx="28">
                  <c:v>118442</c:v>
                </c:pt>
                <c:pt idx="29">
                  <c:v>118956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15-4557-9012-9933DFF33F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ARIMA Pred</c:v>
                </c:pt>
              </c:strCache>
            </c:strRef>
          </c:tx>
          <c:spPr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  <c:pt idx="15">
                  <c:v>Day 16</c:v>
                </c:pt>
                <c:pt idx="16">
                  <c:v>Day 17</c:v>
                </c:pt>
                <c:pt idx="17">
                  <c:v>Day 18</c:v>
                </c:pt>
                <c:pt idx="18">
                  <c:v>Day 19</c:v>
                </c:pt>
                <c:pt idx="19">
                  <c:v>Day 20</c:v>
                </c:pt>
                <c:pt idx="20">
                  <c:v>Day 21</c:v>
                </c:pt>
                <c:pt idx="21">
                  <c:v>Day 22</c:v>
                </c:pt>
                <c:pt idx="22">
                  <c:v>Day 23</c:v>
                </c:pt>
                <c:pt idx="23">
                  <c:v>Day 24</c:v>
                </c:pt>
                <c:pt idx="24">
                  <c:v>Day 25</c:v>
                </c:pt>
                <c:pt idx="25">
                  <c:v>Day 26</c:v>
                </c:pt>
                <c:pt idx="26">
                  <c:v>Day 27</c:v>
                </c:pt>
                <c:pt idx="27">
                  <c:v>Day 28</c:v>
                </c:pt>
                <c:pt idx="28">
                  <c:v>Day 29</c:v>
                </c:pt>
                <c:pt idx="29">
                  <c:v>Day 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117321</c:v>
                </c:pt>
                <c:pt idx="1">
                  <c:v>119195</c:v>
                </c:pt>
                <c:pt idx="2">
                  <c:v>118780</c:v>
                </c:pt>
                <c:pt idx="3">
                  <c:v>117222</c:v>
                </c:pt>
                <c:pt idx="4">
                  <c:v>117147</c:v>
                </c:pt>
                <c:pt idx="5">
                  <c:v>117044</c:v>
                </c:pt>
                <c:pt idx="6">
                  <c:v>114683</c:v>
                </c:pt>
                <c:pt idx="7">
                  <c:v>115260</c:v>
                </c:pt>
                <c:pt idx="8">
                  <c:v>115555</c:v>
                </c:pt>
                <c:pt idx="9">
                  <c:v>116555</c:v>
                </c:pt>
                <c:pt idx="10">
                  <c:v>118331</c:v>
                </c:pt>
                <c:pt idx="11">
                  <c:v>118932</c:v>
                </c:pt>
                <c:pt idx="12">
                  <c:v>118010</c:v>
                </c:pt>
                <c:pt idx="13">
                  <c:v>116493</c:v>
                </c:pt>
                <c:pt idx="14">
                  <c:v>118731</c:v>
                </c:pt>
                <c:pt idx="15">
                  <c:v>118093</c:v>
                </c:pt>
                <c:pt idx="16">
                  <c:v>117488</c:v>
                </c:pt>
                <c:pt idx="17">
                  <c:v>116974</c:v>
                </c:pt>
                <c:pt idx="18">
                  <c:v>116763</c:v>
                </c:pt>
                <c:pt idx="19">
                  <c:v>116269</c:v>
                </c:pt>
                <c:pt idx="20">
                  <c:v>115476</c:v>
                </c:pt>
                <c:pt idx="21">
                  <c:v>114879</c:v>
                </c:pt>
                <c:pt idx="22">
                  <c:v>114888</c:v>
                </c:pt>
                <c:pt idx="23">
                  <c:v>114412</c:v>
                </c:pt>
                <c:pt idx="24">
                  <c:v>113875</c:v>
                </c:pt>
                <c:pt idx="25">
                  <c:v>114212</c:v>
                </c:pt>
                <c:pt idx="26">
                  <c:v>114127</c:v>
                </c:pt>
                <c:pt idx="27">
                  <c:v>115649</c:v>
                </c:pt>
                <c:pt idx="28">
                  <c:v>113071</c:v>
                </c:pt>
                <c:pt idx="29">
                  <c:v>114289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15-4557-9012-9933DFF33F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LR Pred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  <c:pt idx="15">
                  <c:v>Day 16</c:v>
                </c:pt>
                <c:pt idx="16">
                  <c:v>Day 17</c:v>
                </c:pt>
                <c:pt idx="17">
                  <c:v>Day 18</c:v>
                </c:pt>
                <c:pt idx="18">
                  <c:v>Day 19</c:v>
                </c:pt>
                <c:pt idx="19">
                  <c:v>Day 20</c:v>
                </c:pt>
                <c:pt idx="20">
                  <c:v>Day 21</c:v>
                </c:pt>
                <c:pt idx="21">
                  <c:v>Day 22</c:v>
                </c:pt>
                <c:pt idx="22">
                  <c:v>Day 23</c:v>
                </c:pt>
                <c:pt idx="23">
                  <c:v>Day 24</c:v>
                </c:pt>
                <c:pt idx="24">
                  <c:v>Day 25</c:v>
                </c:pt>
                <c:pt idx="25">
                  <c:v>Day 26</c:v>
                </c:pt>
                <c:pt idx="26">
                  <c:v>Day 27</c:v>
                </c:pt>
                <c:pt idx="27">
                  <c:v>Day 28</c:v>
                </c:pt>
                <c:pt idx="28">
                  <c:v>Day 29</c:v>
                </c:pt>
                <c:pt idx="29">
                  <c:v>Day 30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118684</c:v>
                </c:pt>
                <c:pt idx="1">
                  <c:v>118184</c:v>
                </c:pt>
                <c:pt idx="2">
                  <c:v>116453</c:v>
                </c:pt>
                <c:pt idx="3">
                  <c:v>115969</c:v>
                </c:pt>
                <c:pt idx="4">
                  <c:v>116166</c:v>
                </c:pt>
                <c:pt idx="5">
                  <c:v>115461</c:v>
                </c:pt>
                <c:pt idx="6">
                  <c:v>114769</c:v>
                </c:pt>
                <c:pt idx="7">
                  <c:v>114116</c:v>
                </c:pt>
                <c:pt idx="8">
                  <c:v>114158</c:v>
                </c:pt>
                <c:pt idx="9">
                  <c:v>115379</c:v>
                </c:pt>
                <c:pt idx="10">
                  <c:v>114721</c:v>
                </c:pt>
                <c:pt idx="11">
                  <c:v>114513</c:v>
                </c:pt>
                <c:pt idx="12">
                  <c:v>114797</c:v>
                </c:pt>
                <c:pt idx="13">
                  <c:v>114603</c:v>
                </c:pt>
                <c:pt idx="14">
                  <c:v>115181</c:v>
                </c:pt>
                <c:pt idx="15">
                  <c:v>114262</c:v>
                </c:pt>
                <c:pt idx="16">
                  <c:v>113864</c:v>
                </c:pt>
                <c:pt idx="17">
                  <c:v>114100</c:v>
                </c:pt>
                <c:pt idx="18">
                  <c:v>114698</c:v>
                </c:pt>
                <c:pt idx="19">
                  <c:v>114755</c:v>
                </c:pt>
                <c:pt idx="20">
                  <c:v>113067</c:v>
                </c:pt>
                <c:pt idx="21">
                  <c:v>113677</c:v>
                </c:pt>
                <c:pt idx="22">
                  <c:v>113817</c:v>
                </c:pt>
                <c:pt idx="23">
                  <c:v>113628</c:v>
                </c:pt>
                <c:pt idx="24">
                  <c:v>113569</c:v>
                </c:pt>
                <c:pt idx="25">
                  <c:v>114311</c:v>
                </c:pt>
                <c:pt idx="26">
                  <c:v>114675</c:v>
                </c:pt>
                <c:pt idx="27">
                  <c:v>114141</c:v>
                </c:pt>
                <c:pt idx="28">
                  <c:v>113577</c:v>
                </c:pt>
                <c:pt idx="29">
                  <c:v>113783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F15-4557-9012-9933DFF33F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ETH Actual</c:v>
                </c:pt>
              </c:strCache>
            </c:strRef>
          </c:tx>
          <c:spPr>
            <a:ln w="25400" cap="flat">
              <a:solidFill>
                <a:srgbClr val="00C9A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  <c:pt idx="15">
                  <c:v>Day 16</c:v>
                </c:pt>
                <c:pt idx="16">
                  <c:v>Day 17</c:v>
                </c:pt>
                <c:pt idx="17">
                  <c:v>Day 18</c:v>
                </c:pt>
                <c:pt idx="18">
                  <c:v>Day 19</c:v>
                </c:pt>
                <c:pt idx="19">
                  <c:v>Day 20</c:v>
                </c:pt>
                <c:pt idx="20">
                  <c:v>Day 21</c:v>
                </c:pt>
                <c:pt idx="21">
                  <c:v>Day 22</c:v>
                </c:pt>
                <c:pt idx="22">
                  <c:v>Day 23</c:v>
                </c:pt>
                <c:pt idx="23">
                  <c:v>Day 24</c:v>
                </c:pt>
                <c:pt idx="24">
                  <c:v>Day 25</c:v>
                </c:pt>
                <c:pt idx="25">
                  <c:v>Day 26</c:v>
                </c:pt>
                <c:pt idx="26">
                  <c:v>Day 27</c:v>
                </c:pt>
                <c:pt idx="27">
                  <c:v>Day 28</c:v>
                </c:pt>
                <c:pt idx="28">
                  <c:v>Day 29</c:v>
                </c:pt>
                <c:pt idx="29">
                  <c:v>Day 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3950.4</c:v>
                </c:pt>
                <c:pt idx="1">
                  <c:v>3640.3</c:v>
                </c:pt>
                <c:pt idx="2">
                  <c:v>4797.6000000000004</c:v>
                </c:pt>
                <c:pt idx="3">
                  <c:v>4209</c:v>
                </c:pt>
                <c:pt idx="4">
                  <c:v>4002.5</c:v>
                </c:pt>
                <c:pt idx="5">
                  <c:v>4462.8</c:v>
                </c:pt>
                <c:pt idx="6">
                  <c:v>4031.5</c:v>
                </c:pt>
                <c:pt idx="7">
                  <c:v>5025.5</c:v>
                </c:pt>
                <c:pt idx="8">
                  <c:v>4629.1000000000004</c:v>
                </c:pt>
                <c:pt idx="9">
                  <c:v>4248.7</c:v>
                </c:pt>
                <c:pt idx="10">
                  <c:v>5200</c:v>
                </c:pt>
                <c:pt idx="11">
                  <c:v>3968</c:v>
                </c:pt>
                <c:pt idx="12">
                  <c:v>4441.8999999999996</c:v>
                </c:pt>
                <c:pt idx="13">
                  <c:v>4625.1000000000004</c:v>
                </c:pt>
                <c:pt idx="14">
                  <c:v>4783.8999999999996</c:v>
                </c:pt>
                <c:pt idx="15">
                  <c:v>4883.2</c:v>
                </c:pt>
                <c:pt idx="16">
                  <c:v>4232.3</c:v>
                </c:pt>
                <c:pt idx="17">
                  <c:v>3921.1</c:v>
                </c:pt>
                <c:pt idx="18">
                  <c:v>4392.3</c:v>
                </c:pt>
                <c:pt idx="19">
                  <c:v>3867.8</c:v>
                </c:pt>
                <c:pt idx="20">
                  <c:v>4998.3999999999996</c:v>
                </c:pt>
                <c:pt idx="21">
                  <c:v>4260.8999999999996</c:v>
                </c:pt>
                <c:pt idx="22">
                  <c:v>3996.9</c:v>
                </c:pt>
                <c:pt idx="23">
                  <c:v>4210</c:v>
                </c:pt>
                <c:pt idx="24">
                  <c:v>3650.3</c:v>
                </c:pt>
                <c:pt idx="25">
                  <c:v>3771.8</c:v>
                </c:pt>
                <c:pt idx="26">
                  <c:v>4864.8</c:v>
                </c:pt>
                <c:pt idx="27">
                  <c:v>3662.6</c:v>
                </c:pt>
                <c:pt idx="28">
                  <c:v>3883.1</c:v>
                </c:pt>
                <c:pt idx="29">
                  <c:v>4567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D1-4B1E-9B32-1A89A0BEBD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ARIMA Pred</c:v>
                </c:pt>
              </c:strCache>
            </c:strRef>
          </c:tx>
          <c:spPr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  <c:pt idx="15">
                  <c:v>Day 16</c:v>
                </c:pt>
                <c:pt idx="16">
                  <c:v>Day 17</c:v>
                </c:pt>
                <c:pt idx="17">
                  <c:v>Day 18</c:v>
                </c:pt>
                <c:pt idx="18">
                  <c:v>Day 19</c:v>
                </c:pt>
                <c:pt idx="19">
                  <c:v>Day 20</c:v>
                </c:pt>
                <c:pt idx="20">
                  <c:v>Day 21</c:v>
                </c:pt>
                <c:pt idx="21">
                  <c:v>Day 22</c:v>
                </c:pt>
                <c:pt idx="22">
                  <c:v>Day 23</c:v>
                </c:pt>
                <c:pt idx="23">
                  <c:v>Day 24</c:v>
                </c:pt>
                <c:pt idx="24">
                  <c:v>Day 25</c:v>
                </c:pt>
                <c:pt idx="25">
                  <c:v>Day 26</c:v>
                </c:pt>
                <c:pt idx="26">
                  <c:v>Day 27</c:v>
                </c:pt>
                <c:pt idx="27">
                  <c:v>Day 28</c:v>
                </c:pt>
                <c:pt idx="28">
                  <c:v>Day 29</c:v>
                </c:pt>
                <c:pt idx="29">
                  <c:v>Day 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4343.5</c:v>
                </c:pt>
                <c:pt idx="1">
                  <c:v>4351.7</c:v>
                </c:pt>
                <c:pt idx="2">
                  <c:v>4253.3999999999996</c:v>
                </c:pt>
                <c:pt idx="3">
                  <c:v>4265.8999999999996</c:v>
                </c:pt>
                <c:pt idx="4">
                  <c:v>4296.8</c:v>
                </c:pt>
                <c:pt idx="5">
                  <c:v>4262.5</c:v>
                </c:pt>
                <c:pt idx="6">
                  <c:v>4263.8</c:v>
                </c:pt>
                <c:pt idx="7">
                  <c:v>4255.3999999999996</c:v>
                </c:pt>
                <c:pt idx="8">
                  <c:v>4311.7</c:v>
                </c:pt>
                <c:pt idx="9">
                  <c:v>4392.6000000000004</c:v>
                </c:pt>
                <c:pt idx="10">
                  <c:v>4395.1000000000004</c:v>
                </c:pt>
                <c:pt idx="11">
                  <c:v>4461</c:v>
                </c:pt>
                <c:pt idx="12">
                  <c:v>4468.8999999999996</c:v>
                </c:pt>
                <c:pt idx="13">
                  <c:v>4429.1000000000004</c:v>
                </c:pt>
                <c:pt idx="14">
                  <c:v>4447.8</c:v>
                </c:pt>
                <c:pt idx="15">
                  <c:v>4491.7</c:v>
                </c:pt>
                <c:pt idx="16">
                  <c:v>4549.8</c:v>
                </c:pt>
                <c:pt idx="17">
                  <c:v>4544.8</c:v>
                </c:pt>
                <c:pt idx="18">
                  <c:v>4463.2</c:v>
                </c:pt>
                <c:pt idx="19">
                  <c:v>4418.3999999999996</c:v>
                </c:pt>
                <c:pt idx="20">
                  <c:v>4365</c:v>
                </c:pt>
                <c:pt idx="21">
                  <c:v>4387.3999999999996</c:v>
                </c:pt>
                <c:pt idx="22">
                  <c:v>4420.8</c:v>
                </c:pt>
                <c:pt idx="23">
                  <c:v>4370.7</c:v>
                </c:pt>
                <c:pt idx="24">
                  <c:v>4328.7</c:v>
                </c:pt>
                <c:pt idx="25">
                  <c:v>4257.3999999999996</c:v>
                </c:pt>
                <c:pt idx="26">
                  <c:v>4166.6000000000004</c:v>
                </c:pt>
                <c:pt idx="27">
                  <c:v>4205.3999999999996</c:v>
                </c:pt>
                <c:pt idx="28">
                  <c:v>4204</c:v>
                </c:pt>
                <c:pt idx="29">
                  <c:v>4133.3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D1-4B1E-9B32-1A89A0BEBD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LR Pred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  <c:pt idx="6">
                  <c:v>Day 7</c:v>
                </c:pt>
                <c:pt idx="7">
                  <c:v>Day 8</c:v>
                </c:pt>
                <c:pt idx="8">
                  <c:v>Day 9</c:v>
                </c:pt>
                <c:pt idx="9">
                  <c:v>Day 10</c:v>
                </c:pt>
                <c:pt idx="10">
                  <c:v>Day 11</c:v>
                </c:pt>
                <c:pt idx="11">
                  <c:v>Day 12</c:v>
                </c:pt>
                <c:pt idx="12">
                  <c:v>Day 13</c:v>
                </c:pt>
                <c:pt idx="13">
                  <c:v>Day 14</c:v>
                </c:pt>
                <c:pt idx="14">
                  <c:v>Day 15</c:v>
                </c:pt>
                <c:pt idx="15">
                  <c:v>Day 16</c:v>
                </c:pt>
                <c:pt idx="16">
                  <c:v>Day 17</c:v>
                </c:pt>
                <c:pt idx="17">
                  <c:v>Day 18</c:v>
                </c:pt>
                <c:pt idx="18">
                  <c:v>Day 19</c:v>
                </c:pt>
                <c:pt idx="19">
                  <c:v>Day 20</c:v>
                </c:pt>
                <c:pt idx="20">
                  <c:v>Day 21</c:v>
                </c:pt>
                <c:pt idx="21">
                  <c:v>Day 22</c:v>
                </c:pt>
                <c:pt idx="22">
                  <c:v>Day 23</c:v>
                </c:pt>
                <c:pt idx="23">
                  <c:v>Day 24</c:v>
                </c:pt>
                <c:pt idx="24">
                  <c:v>Day 25</c:v>
                </c:pt>
                <c:pt idx="25">
                  <c:v>Day 26</c:v>
                </c:pt>
                <c:pt idx="26">
                  <c:v>Day 27</c:v>
                </c:pt>
                <c:pt idx="27">
                  <c:v>Day 28</c:v>
                </c:pt>
                <c:pt idx="28">
                  <c:v>Day 29</c:v>
                </c:pt>
                <c:pt idx="29">
                  <c:v>Day 30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4216.7</c:v>
                </c:pt>
                <c:pt idx="1">
                  <c:v>4180.2</c:v>
                </c:pt>
                <c:pt idx="2">
                  <c:v>4237.8999999999996</c:v>
                </c:pt>
                <c:pt idx="3">
                  <c:v>4205.2</c:v>
                </c:pt>
                <c:pt idx="4">
                  <c:v>4223.8</c:v>
                </c:pt>
                <c:pt idx="5">
                  <c:v>4217.1000000000004</c:v>
                </c:pt>
                <c:pt idx="6">
                  <c:v>4180</c:v>
                </c:pt>
                <c:pt idx="7">
                  <c:v>4262.3</c:v>
                </c:pt>
                <c:pt idx="8">
                  <c:v>4219.5</c:v>
                </c:pt>
                <c:pt idx="9">
                  <c:v>4200.2</c:v>
                </c:pt>
                <c:pt idx="10">
                  <c:v>4271.6000000000004</c:v>
                </c:pt>
                <c:pt idx="11">
                  <c:v>4228.8999999999996</c:v>
                </c:pt>
                <c:pt idx="12">
                  <c:v>4256.8</c:v>
                </c:pt>
                <c:pt idx="13">
                  <c:v>4269.2</c:v>
                </c:pt>
                <c:pt idx="14">
                  <c:v>4271.7</c:v>
                </c:pt>
                <c:pt idx="15">
                  <c:v>4330.8999999999996</c:v>
                </c:pt>
                <c:pt idx="16">
                  <c:v>4336.8</c:v>
                </c:pt>
                <c:pt idx="17">
                  <c:v>4364.5</c:v>
                </c:pt>
                <c:pt idx="18">
                  <c:v>4431.7</c:v>
                </c:pt>
                <c:pt idx="19">
                  <c:v>4310</c:v>
                </c:pt>
                <c:pt idx="20">
                  <c:v>4422.7</c:v>
                </c:pt>
                <c:pt idx="21">
                  <c:v>4415.3</c:v>
                </c:pt>
                <c:pt idx="22">
                  <c:v>4397.3</c:v>
                </c:pt>
                <c:pt idx="23">
                  <c:v>4432.2</c:v>
                </c:pt>
                <c:pt idx="24">
                  <c:v>4396.3</c:v>
                </c:pt>
                <c:pt idx="25">
                  <c:v>4376.6000000000004</c:v>
                </c:pt>
                <c:pt idx="26">
                  <c:v>4446</c:v>
                </c:pt>
                <c:pt idx="27">
                  <c:v>4265</c:v>
                </c:pt>
                <c:pt idx="28">
                  <c:v>4294</c:v>
                </c:pt>
                <c:pt idx="29">
                  <c:v>4309.6000000000004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BD1-4B1E-9B32-1A89A0BEBD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 MAPE %</c:v>
                </c:pt>
              </c:strCache>
            </c:strRef>
          </c:tx>
          <c:spPr>
            <a:solidFill>
              <a:srgbClr val="F7B73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Naive</c:v>
                </c:pt>
                <c:pt idx="1">
                  <c:v>ARIMA</c:v>
                </c:pt>
                <c:pt idx="2">
                  <c:v>Linear Reg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3.43</c:v>
                </c:pt>
                <c:pt idx="1">
                  <c:v>2.63</c:v>
                </c:pt>
                <c:pt idx="2">
                  <c:v>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BA-415A-8C1A-631378DFCD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ETH MAPE %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Naive</c:v>
                </c:pt>
                <c:pt idx="1">
                  <c:v>ARIMA</c:v>
                </c:pt>
                <c:pt idx="2">
                  <c:v>Linear Reg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9.66</c:v>
                </c:pt>
                <c:pt idx="1">
                  <c:v>7.75</c:v>
                </c:pt>
                <c:pt idx="2">
                  <c:v>7.43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BA-415A-8C1A-631378DFC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 MAPE %</c:v>
                </c:pt>
              </c:strCache>
            </c:strRef>
          </c:tx>
          <c:spPr>
            <a:solidFill>
              <a:srgbClr val="F7B7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</c:v>
                </c:pt>
                <c:pt idx="1">
                  <c:v>ARIMA</c:v>
                </c:pt>
                <c:pt idx="2">
                  <c:v>Linear Reg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3.43</c:v>
                </c:pt>
                <c:pt idx="1">
                  <c:v>2.63</c:v>
                </c:pt>
                <c:pt idx="2">
                  <c:v>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E0-43D9-BC74-CB484ED1EB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ETH MAPE %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</c:v>
                </c:pt>
                <c:pt idx="1">
                  <c:v>ARIMA</c:v>
                </c:pt>
                <c:pt idx="2">
                  <c:v>Linear Reg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9.66</c:v>
                </c:pt>
                <c:pt idx="1">
                  <c:v>7.75</c:v>
                </c:pt>
                <c:pt idx="2">
                  <c:v>7.43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E0-43D9-BC74-CB484ED1EB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609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5120640" cy="5143500"/>
          </a:xfrm>
          <a:prstGeom prst="rect">
            <a:avLst/>
          </a:prstGeom>
          <a:solidFill>
            <a:srgbClr val="1A223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0" y="-274320"/>
            <a:ext cx="3840480" cy="3840480"/>
          </a:xfrm>
          <a:prstGeom prst="line">
            <a:avLst/>
          </a:prstGeom>
          <a:solidFill>
            <a:srgbClr val="F7B731">
              <a:alpha val="12000"/>
            </a:srgbClr>
          </a:solidFill>
          <a:ln w="12700">
            <a:solidFill>
              <a:srgbClr val="F7B73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583680" y="365760"/>
            <a:ext cx="2560320" cy="2560320"/>
          </a:xfrm>
          <a:prstGeom prst="lin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217920" y="502920"/>
            <a:ext cx="25603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457200" y="841248"/>
            <a:ext cx="3749040" cy="2743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57200" y="859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E1A"/>
                </a:solidFill>
              </a:rPr>
              <a:t>BUSINESS ANALYTICS &amp; AI  |  FINAL PRESENTATION 3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126187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00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457200" y="197510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57200" y="2651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</a:rPr>
              <a:t>Modeling · Forecasting · Evaluation · Conclusion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054096"/>
            <a:ext cx="4114800" cy="36576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57200" y="3163824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Babu Md Moniruzzaman Sadi  ·  23229522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Rahman Nymur  ·  23229593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Atkia Jahan Lamia  ·  24224530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Jinan Al Sayed  ·  23229522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943600" y="4892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</a:rPr>
              <a:t>Tokyo International University  |  2026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004011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040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AGENDA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850392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50292" cy="548640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75488" y="1325880"/>
            <a:ext cx="310896" cy="310896"/>
          </a:xfrm>
          <a:prstGeom prst="line">
            <a:avLst/>
          </a:prstGeom>
          <a:solidFill>
            <a:srgbClr val="F7B731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01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98448" y="1261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Industry &amp; Problem Statement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298448" y="152704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FinTech / NovaCoin — what we are solving and why it matters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1847088"/>
            <a:ext cx="850392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20040" y="1847088"/>
            <a:ext cx="50292" cy="5486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75488" y="1965960"/>
            <a:ext cx="310896" cy="310896"/>
          </a:xfrm>
          <a:prstGeom prst="line">
            <a:avLst/>
          </a:prstGeom>
          <a:solidFill>
            <a:srgbClr val="00C9A7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75488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02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98448" y="1901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EDA Summary → Modeling Connection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298448" y="216712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Key insights + how they drive our attribute and model choices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320040" y="2487168"/>
            <a:ext cx="50292" cy="548640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9"/>
          <p:cNvSpPr/>
          <p:nvPr/>
        </p:nvSpPr>
        <p:spPr>
          <a:xfrm>
            <a:off x="475488" y="2606040"/>
            <a:ext cx="310896" cy="310896"/>
          </a:xfrm>
          <a:prstGeom prst="line">
            <a:avLst/>
          </a:prstGeom>
          <a:solidFill>
            <a:srgbClr val="B0BEC5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475488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03</a:t>
            </a: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0604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98448" y="2542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1 — Naive Baseline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298448" y="280720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Last-value forecast · inputs/outputs · performance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20040" y="3127248"/>
            <a:ext cx="850392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4"/>
          <p:cNvSpPr/>
          <p:nvPr/>
        </p:nvSpPr>
        <p:spPr>
          <a:xfrm>
            <a:off x="320040" y="3127248"/>
            <a:ext cx="50292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5"/>
          <p:cNvSpPr/>
          <p:nvPr/>
        </p:nvSpPr>
        <p:spPr>
          <a:xfrm>
            <a:off x="475488" y="3246120"/>
            <a:ext cx="310896" cy="310896"/>
          </a:xfrm>
          <a:prstGeom prst="line">
            <a:avLst/>
          </a:prstGeom>
          <a:solidFill>
            <a:srgbClr val="3B82F6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75488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04</a:t>
            </a:r>
            <a:endParaRPr lang="en-US" sz="10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246120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98448" y="3182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2 — ARIMA(1,1,1)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1298448" y="344728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Time series model · why ARIMA · walk-forward validation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20040" y="3767328"/>
            <a:ext cx="850392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0"/>
          <p:cNvSpPr/>
          <p:nvPr/>
        </p:nvSpPr>
        <p:spPr>
          <a:xfrm>
            <a:off x="320040" y="3767328"/>
            <a:ext cx="50292" cy="5486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1"/>
          <p:cNvSpPr/>
          <p:nvPr/>
        </p:nvSpPr>
        <p:spPr>
          <a:xfrm>
            <a:off x="475488" y="3886200"/>
            <a:ext cx="310896" cy="310896"/>
          </a:xfrm>
          <a:prstGeom prst="line">
            <a:avLst/>
          </a:prstGeom>
          <a:solidFill>
            <a:srgbClr val="A855F7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2"/>
          <p:cNvSpPr/>
          <p:nvPr/>
        </p:nvSpPr>
        <p:spPr>
          <a:xfrm>
            <a:off x="47548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05</a:t>
            </a:r>
            <a:endParaRPr lang="en-US" sz="10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86200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298448" y="3822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3 — Linear Regression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1298448" y="408736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Lag features + moving averages · best-performing model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36"/>
          <p:cNvSpPr/>
          <p:nvPr/>
        </p:nvSpPr>
        <p:spPr>
          <a:xfrm>
            <a:off x="320040" y="4407408"/>
            <a:ext cx="50292" cy="5486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37"/>
          <p:cNvSpPr/>
          <p:nvPr/>
        </p:nvSpPr>
        <p:spPr>
          <a:xfrm>
            <a:off x="475488" y="4526280"/>
            <a:ext cx="310896" cy="310896"/>
          </a:xfrm>
          <a:prstGeom prst="line">
            <a:avLst/>
          </a:prstGeom>
          <a:solidFill>
            <a:srgbClr val="22C55E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8"/>
          <p:cNvSpPr/>
          <p:nvPr/>
        </p:nvSpPr>
        <p:spPr>
          <a:xfrm>
            <a:off x="475488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</a:rPr>
              <a:t>06</a:t>
            </a:r>
            <a:endParaRPr lang="en-US" sz="10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526280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298448" y="4462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Comparison &amp; Conclusion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1298448" y="4727448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KPI comparison · best model · limitations · future improvements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189074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21890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INDUSTRY &amp; PROBLEM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Problem Statement &amp; Importance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438912"/>
          </a:xfrm>
          <a:prstGeom prst="rect">
            <a:avLst/>
          </a:prstGeom>
          <a:solidFill>
            <a:srgbClr val="1A2234"/>
          </a:solidFill>
          <a:ln w="6350">
            <a:solidFill>
              <a:srgbClr val="F7B73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0292" cy="438912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187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2435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B731"/>
                </a:solidFill>
              </a:rPr>
              <a:t>Industry: FinTech &amp; Cryptocurrency  ·  Client: NovaCoin FinTech Japan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148132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We act as a data consulting team. NovaCoin wants to launch a crypto investment product for retail investors in Japan.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" y="1737360"/>
            <a:ext cx="8503920" cy="877824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20040" y="1737360"/>
            <a:ext cx="50292" cy="87782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02920" y="1792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</a:rPr>
              <a:t>Finalized Problem Statement (from Presentation 2)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20299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How can NovaCoin FinTech use 2023–2025 BTC &amp; ETH data to quantify </a:t>
            </a:r>
            <a:r>
              <a:rPr lang="en-US" sz="1100" b="1" dirty="0">
                <a:solidFill>
                  <a:srgbClr val="F7B731"/>
                </a:solidFill>
              </a:rPr>
              <a:t>price trends (+256% BTC), volatility (ETH 1.45× BTC), and correlation (r=0.78)</a:t>
            </a:r>
            <a:r>
              <a:rPr lang="en-US" sz="1100" dirty="0">
                <a:solidFill>
                  <a:srgbClr val="FFFFFF"/>
                </a:solidFill>
              </a:rPr>
              <a:t> — and build predictive models that support the design of a </a:t>
            </a:r>
            <a:r>
              <a:rPr lang="en-US" sz="1100" b="1" dirty="0">
                <a:solidFill>
                  <a:srgbClr val="00C9A7"/>
                </a:solidFill>
              </a:rPr>
              <a:t>two-tier Conservative/Growth investment product?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" y="27614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Why it is important to address: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054096"/>
            <a:ext cx="2697480" cy="18288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320040" y="3054096"/>
            <a:ext cx="50292" cy="1828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63824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23544" y="31821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FSA Compliance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4632" y="3566160"/>
            <a:ext cx="2395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Japanese FSA requires quantified risk disclosures. Data-driven models give NovaCoin legally defensible evidence for product design.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172968" y="3054096"/>
            <a:ext cx="2697480" cy="18288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9"/>
          <p:cNvSpPr/>
          <p:nvPr/>
        </p:nvSpPr>
        <p:spPr>
          <a:xfrm>
            <a:off x="3172968" y="3054096"/>
            <a:ext cx="50292" cy="1828800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63824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76472" y="31821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731"/>
                </a:solidFill>
              </a:rPr>
              <a:t>Better Decisions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337560" y="3566160"/>
            <a:ext cx="2395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Without forecasting models, NovaCoin would rely on intuition. Our models reduce guesswork and give data-backed pricing strategy.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025896" y="3054096"/>
            <a:ext cx="2697480" cy="18288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6025896" y="3054096"/>
            <a:ext cx="50292" cy="18288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163824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29400" y="31821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Investor Trust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190488" y="3566160"/>
            <a:ext cx="2395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Retail investors who see transparent, model-backed risk estimates are more likely to trust and buy the product.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794053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794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EDA → MODELING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Summary — How It Drives Our Modeling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85953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0292" cy="859536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264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7824" y="1261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EDA Finding: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77824" y="14630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BTC +256% over 2 years. Positive mean daily return (+0.18%). SMA golden cross Jan 2024.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2618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Model Implication: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303520" y="14630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</a:rPr>
              <a:t>Price has clear upward trend → predictable with time-series models. MA features are informative.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" y="2139696"/>
            <a:ext cx="8503920" cy="85953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320040" y="2139696"/>
            <a:ext cx="50292" cy="85953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3774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EDA Finding: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77824" y="241401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ETH avg volatility 3.55% vs BTC 2.45% (ratio 1.45×). Both use 30-day rolling std dev.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1401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2212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Model Implication: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5303520" y="241401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</a:rPr>
              <a:t>Volatility is time-varying → rolling std dev feature needed. Separate models for BTC and ETH.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20040" y="3090672"/>
            <a:ext cx="8503920" cy="85953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320040" y="3090672"/>
            <a:ext cx="50292" cy="85953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32841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77824" y="31638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EDA Finding: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877824" y="33649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Pearson r = 0.78. Both assets react to same macro events. Correlation spikes in crashes.</a:t>
            </a:r>
            <a:endParaRPr lang="en-US" sz="9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64992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03520" y="31638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Model Implication: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5303520" y="33649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</a:rPr>
              <a:t>High correlation = shared market signal. BTC lag features can improve ETH prediction (cross-asset).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320040" y="4041648"/>
            <a:ext cx="8503920" cy="85953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4"/>
          <p:cNvSpPr/>
          <p:nvPr/>
        </p:nvSpPr>
        <p:spPr>
          <a:xfrm>
            <a:off x="320040" y="4041648"/>
            <a:ext cx="50292" cy="85953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279392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77824" y="4114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EDA Finding: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877824" y="43159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Fat tails (ETH max +21.85% in one day). Positive skew in both return distributions.</a:t>
            </a:r>
            <a:endParaRPr lang="en-US" sz="9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315968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03520" y="4114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Model Implication:</a:t>
            </a:r>
            <a:endParaRPr lang="en-US" sz="800" dirty="0"/>
          </a:p>
        </p:txBody>
      </p:sp>
      <p:sp>
        <p:nvSpPr>
          <p:cNvPr id="38" name="Text 28"/>
          <p:cNvSpPr/>
          <p:nvPr/>
        </p:nvSpPr>
        <p:spPr>
          <a:xfrm>
            <a:off x="5303520" y="43159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</a:rPr>
              <a:t>Outlier events exist → models may struggle at extremes. MAPE chosen as KPI to handle scale differences.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320040" y="5029200"/>
            <a:ext cx="8503920" cy="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0"/>
          <p:cNvSpPr/>
          <p:nvPr/>
        </p:nvSpPr>
        <p:spPr>
          <a:xfrm>
            <a:off x="320040" y="4690872"/>
            <a:ext cx="8503920" cy="292608"/>
          </a:xfrm>
          <a:prstGeom prst="rect">
            <a:avLst/>
          </a:prstGeom>
          <a:solidFill>
            <a:srgbClr val="1A22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1"/>
          <p:cNvSpPr/>
          <p:nvPr/>
        </p:nvSpPr>
        <p:spPr>
          <a:xfrm>
            <a:off x="502920" y="47274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B731"/>
                </a:solidFill>
              </a:rPr>
              <a:t>Features used: lag1, lag3, lag7 close price · 20-day MA · 50-day MA · 30-day rolling vol  |  KPIs: MAE, RMSE, MAPE  |  Test set: last 90 days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189074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21890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MODEL 1 — BASELINE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Naive Baseline (Last-Value Forecast)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530352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0292" cy="1463040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1673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316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6824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The simplest possible forecast: predict tomorrow's price = today's price.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Formula:  Prediction(t+1) = Close(t)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Also called the 'Random Walk' assumption — standard benchmark in finance.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No learning, no parameters, no training required.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06440" y="1188720"/>
            <a:ext cx="301752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806440" y="1188720"/>
            <a:ext cx="50292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961888" y="1261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Why use it?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61888" y="1572768"/>
            <a:ext cx="2697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Any model we build MUST beat the naive baseline. If our complex model performs worse, it is useless.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The naive baseline is the minimum acceptable performance threshold.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" y="2798064"/>
            <a:ext cx="5303520" cy="694944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320040" y="2798064"/>
            <a:ext cx="50292" cy="694944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75488" y="2852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5488" y="3090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Yesterday's close price (btc_close or eth_close — lag 1 only)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00400" y="2852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0" y="3090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Next day's predicted close price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3621024"/>
            <a:ext cx="265176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20040" y="36758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$4,024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320040" y="4206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MAE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0040" y="4407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Naive baseline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154680" y="3621024"/>
            <a:ext cx="265176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3154680" y="36758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$5,384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3154680" y="4206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RMSE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154680" y="4407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Naive baseline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5806440" y="3621024"/>
            <a:ext cx="3017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806440" y="36758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3.43%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5806440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MAPE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06440" y="44074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Naive baseline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20040" y="4617720"/>
            <a:ext cx="2651760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320040" y="46725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$432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320040" y="5202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MAE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20040" y="54041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Naive baseline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3154680" y="4617720"/>
            <a:ext cx="2651760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3154680" y="46725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$560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3154680" y="5202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RMSE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154680" y="54041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Naive baseline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5806440" y="4617720"/>
            <a:ext cx="3017520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5806440" y="46725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9.66%</a:t>
            </a:r>
            <a:endParaRPr lang="en-US" sz="2600" dirty="0"/>
          </a:p>
        </p:txBody>
      </p:sp>
      <p:sp>
        <p:nvSpPr>
          <p:cNvPr id="44" name="Text 41"/>
          <p:cNvSpPr/>
          <p:nvPr/>
        </p:nvSpPr>
        <p:spPr>
          <a:xfrm>
            <a:off x="5806440" y="52029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MAPE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806440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Naive baseline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892808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MODEL 2 — ARIMA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ARIMA(1,1,1) — Time Series Model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5303520" cy="19202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0292" cy="1920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1673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316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ARIMA?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682496"/>
            <a:ext cx="4937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B731"/>
                </a:solidFill>
              </a:rPr>
              <a:t>ARIMA = AutoRegressive Integrated Moving Average
</a:t>
            </a:r>
            <a:r>
              <a:rPr lang="en-US" sz="950" b="1" dirty="0">
                <a:solidFill>
                  <a:srgbClr val="00C9A7"/>
                </a:solidFill>
              </a:rPr>
              <a:t>AR(1):</a:t>
            </a:r>
            <a:r>
              <a:rPr lang="en-US" sz="950" dirty="0">
                <a:solidFill>
                  <a:srgbClr val="B0BEC5"/>
                </a:solidFill>
              </a:rPr>
              <a:t>  Today's value depends on yesterday's value
</a:t>
            </a:r>
            <a:r>
              <a:rPr lang="en-US" sz="950" b="1" dirty="0">
                <a:solidFill>
                  <a:srgbClr val="00C9A7"/>
                </a:solidFill>
              </a:rPr>
              <a:t>I(1):</a:t>
            </a:r>
            <a:r>
              <a:rPr lang="en-US" sz="950" dirty="0">
                <a:solidFill>
                  <a:srgbClr val="B0BEC5"/>
                </a:solidFill>
              </a:rPr>
              <a:t>   First-order differencing to make data stationary
</a:t>
            </a:r>
            <a:r>
              <a:rPr lang="en-US" sz="950" b="1" dirty="0">
                <a:solidFill>
                  <a:srgbClr val="00C9A7"/>
                </a:solidFill>
              </a:rPr>
              <a:t>MA(1):</a:t>
            </a:r>
            <a:r>
              <a:rPr lang="en-US" sz="950" dirty="0">
                <a:solidFill>
                  <a:srgbClr val="B0BEC5"/>
                </a:solidFill>
              </a:rPr>
              <a:t>  Uses the previous day's forecast error to improve
</a:t>
            </a:r>
            <a:r>
              <a:rPr lang="en-US" sz="950" b="1" dirty="0">
                <a:solidFill>
                  <a:srgbClr val="FFFFFF"/>
                </a:solidFill>
              </a:rPr>
              <a:t>Why ARIMA?</a:t>
            </a:r>
            <a:r>
              <a:rPr lang="en-US" sz="950" dirty="0">
                <a:solidFill>
                  <a:srgbClr val="B0BEC5"/>
                </a:solidFill>
              </a:rPr>
              <a:t>  It is the standard baseline for financial time series. It captures autocorrelation — the pattern where today's price is related to yesterday's.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06440" y="1188720"/>
            <a:ext cx="3017520" cy="19202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806440" y="1188720"/>
            <a:ext cx="50292" cy="1920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961888" y="1261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Walk-Forward Validation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61888" y="1572768"/>
            <a:ext cx="2697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Instead of training once and predicting 90 days ahead, we retrain every day: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1. Train on all data up to day 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2. Predict day t+1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3. Add actual t+1 to training 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4. Repeat for 90 days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This simulates real-world use and avoids data leakage.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" y="3200400"/>
            <a:ext cx="850392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320040" y="3200400"/>
            <a:ext cx="50292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75488" y="32552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Inputs: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463040" y="32552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Historical close price sequence (expanding window — all data up to day t)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0" y="32552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92240" y="3255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One-step ahead forecast: Predicted close price for t+1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488" y="3511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 from statsmodels.tsa.arima.model import ARIMA  |  model = ARIMA(history, order=(1,1,1)).fit()  |  forecast = model.forecast(steps=1)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20040" y="3977640"/>
            <a:ext cx="265176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20040" y="40325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$3,093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320040" y="45628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MAE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0040" y="47640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ARIMA(1,1,1)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154680" y="3977640"/>
            <a:ext cx="265176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3154680" y="40325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$3,942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3154680" y="45628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RMSE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154680" y="47640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ARIMA(1,1,1)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806440" y="3977640"/>
            <a:ext cx="3017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5806440" y="403250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2.63%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5806440" y="45628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MAPE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806440" y="476402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vs Naive 3.43%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320040" y="4974336"/>
            <a:ext cx="265176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320040" y="50292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$345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320040" y="55595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MAE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20040" y="5760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ARIMA(1,1,1)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3154680" y="4974336"/>
            <a:ext cx="265176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3154680" y="50292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$414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3154680" y="55595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RMSE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154680" y="5760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ARIMA(1,1,1)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806440" y="4974336"/>
            <a:ext cx="301752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/>
          <p:nvPr/>
        </p:nvSpPr>
        <p:spPr>
          <a:xfrm>
            <a:off x="5806440" y="50292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7.75%</a:t>
            </a:r>
            <a:endParaRPr lang="en-US" sz="2600" dirty="0"/>
          </a:p>
        </p:txBody>
      </p:sp>
      <p:sp>
        <p:nvSpPr>
          <p:cNvPr id="45" name="Text 42"/>
          <p:cNvSpPr/>
          <p:nvPr/>
        </p:nvSpPr>
        <p:spPr>
          <a:xfrm>
            <a:off x="5806440" y="55595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MAPE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806440" y="57607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vs Naive 9.66%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3077870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30778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MODEL 3 — LINEAR REGRESSION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Linear Regression with Lag Features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5303520" cy="204825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0292" cy="204825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1673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316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it?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66420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Linear Regression learns a weighted combination of features to predict price.
</a:t>
            </a: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 Price(t+1) = w₁·lag1 + w₂·lag3 + w₃·lag7 + w₄·MA20 + w₅·MA50 + w₆·vol30 + b
</a:t>
            </a:r>
            <a:r>
              <a:rPr lang="en-US" sz="950" b="1" dirty="0">
                <a:solidFill>
                  <a:srgbClr val="F7B731"/>
                </a:solidFill>
              </a:rPr>
              <a:t>Why it beats ARIMA: </a:t>
            </a:r>
            <a:r>
              <a:rPr lang="en-US" sz="950" dirty="0">
                <a:solidFill>
                  <a:srgbClr val="B0BEC5"/>
                </a:solidFill>
              </a:rPr>
              <a:t>ARIMA only uses the price itself. Linear Regression adds 6 engineered features — short-term momentum, medium-term trends, and volatility context. More information → better prediction.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06440" y="1188720"/>
            <a:ext cx="3017520" cy="2048256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806440" y="1188720"/>
            <a:ext cx="50292" cy="204825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961888" y="1261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6 Input Features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61888" y="1572768"/>
            <a:ext cx="502920" cy="201168"/>
          </a:xfrm>
          <a:prstGeom prst="rect">
            <a:avLst/>
          </a:prstGeom>
          <a:solidFill>
            <a:srgbClr val="1A22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961888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</a:rPr>
              <a:t>lag1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47104" y="1591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Yesterday's close (most recent signal)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61888" y="1810512"/>
            <a:ext cx="502920" cy="201168"/>
          </a:xfrm>
          <a:prstGeom prst="rect">
            <a:avLst/>
          </a:prstGeom>
          <a:solidFill>
            <a:srgbClr val="1A22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961888" y="18105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</a:rPr>
              <a:t>lag3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47104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3 days ago close (short trend)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61888" y="2048256"/>
            <a:ext cx="502920" cy="201168"/>
          </a:xfrm>
          <a:prstGeom prst="rect">
            <a:avLst/>
          </a:prstGeom>
          <a:solidFill>
            <a:srgbClr val="1A22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961888" y="20482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</a:rPr>
              <a:t>lag7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547104" y="20665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1 week ago close (weekly pattern)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61888" y="2286000"/>
            <a:ext cx="502920" cy="201168"/>
          </a:xfrm>
          <a:prstGeom prst="rect">
            <a:avLst/>
          </a:prstGeom>
          <a:solidFill>
            <a:srgbClr val="1A22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961888" y="22860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</a:rPr>
              <a:t>MA20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547104" y="2304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20-day moving average (momentum)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61888" y="2523744"/>
            <a:ext cx="502920" cy="201168"/>
          </a:xfrm>
          <a:prstGeom prst="rect">
            <a:avLst/>
          </a:prstGeom>
          <a:solidFill>
            <a:srgbClr val="1A22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961888" y="25237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</a:rPr>
              <a:t>MA50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547104" y="2542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50-day moving average (longer trend)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61888" y="2761488"/>
            <a:ext cx="502920" cy="201168"/>
          </a:xfrm>
          <a:prstGeom prst="rect">
            <a:avLst/>
          </a:prstGeom>
          <a:solidFill>
            <a:srgbClr val="1A22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961888" y="2761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5F7"/>
                </a:solidFill>
              </a:rPr>
              <a:t>vol30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547104" y="27797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30-day rolling volatility (risk context)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20040" y="3328416"/>
            <a:ext cx="850392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320040" y="3328416"/>
            <a:ext cx="50292" cy="4572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475488" y="3383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Input: 6 features (lag1, lag3, lag7, MA20, MA50, vol30) — StandardScaler normalized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989320" y="33832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Output: Predicted next-day close price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5488" y="36027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Sklearn: LinearRegression().fit(X_train_scaled, y_train)  →  model.predict(X_test_scaled)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0040" y="3877056"/>
            <a:ext cx="8503920" cy="219456"/>
          </a:xfrm>
          <a:prstGeom prst="rect">
            <a:avLst/>
          </a:prstGeom>
          <a:solidFill>
            <a:srgbClr val="1A3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320040" y="38770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★  BEST PERFORMING MODEL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4151376"/>
            <a:ext cx="265176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320040" y="42062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$3,034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320040" y="47365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MAE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20040" y="49377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Linear Regression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154680" y="4151376"/>
            <a:ext cx="265176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3154680" y="42062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$3,833</a:t>
            </a:r>
            <a:endParaRPr lang="en-US" sz="2600" dirty="0"/>
          </a:p>
        </p:txBody>
      </p:sp>
      <p:sp>
        <p:nvSpPr>
          <p:cNvPr id="46" name="Text 43"/>
          <p:cNvSpPr/>
          <p:nvPr/>
        </p:nvSpPr>
        <p:spPr>
          <a:xfrm>
            <a:off x="3154680" y="47365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RMSE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154680" y="49377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Linear Regression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806440" y="4151376"/>
            <a:ext cx="301752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5806440" y="420624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2.56%</a:t>
            </a:r>
            <a:endParaRPr lang="en-US" sz="2600" dirty="0"/>
          </a:p>
        </p:txBody>
      </p:sp>
      <p:sp>
        <p:nvSpPr>
          <p:cNvPr id="50" name="Text 47"/>
          <p:cNvSpPr/>
          <p:nvPr/>
        </p:nvSpPr>
        <p:spPr>
          <a:xfrm>
            <a:off x="5806440" y="4736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BTC MAPE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806440" y="49377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vs Naive 3.43%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320040" y="5065776"/>
            <a:ext cx="265176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Text 50"/>
          <p:cNvSpPr/>
          <p:nvPr/>
        </p:nvSpPr>
        <p:spPr>
          <a:xfrm>
            <a:off x="320040" y="51206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$333</a:t>
            </a:r>
            <a:endParaRPr lang="en-US" sz="2600" dirty="0"/>
          </a:p>
        </p:txBody>
      </p:sp>
      <p:sp>
        <p:nvSpPr>
          <p:cNvPr id="54" name="Text 51"/>
          <p:cNvSpPr/>
          <p:nvPr/>
        </p:nvSpPr>
        <p:spPr>
          <a:xfrm>
            <a:off x="320040" y="56509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MAE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20040" y="5852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Linear Regression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54680" y="5065776"/>
            <a:ext cx="265176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/>
          <p:nvPr/>
        </p:nvSpPr>
        <p:spPr>
          <a:xfrm>
            <a:off x="3154680" y="51206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$399</a:t>
            </a:r>
            <a:endParaRPr lang="en-US" sz="2600" dirty="0"/>
          </a:p>
        </p:txBody>
      </p:sp>
      <p:sp>
        <p:nvSpPr>
          <p:cNvPr id="58" name="Text 55"/>
          <p:cNvSpPr/>
          <p:nvPr/>
        </p:nvSpPr>
        <p:spPr>
          <a:xfrm>
            <a:off x="3154680" y="56509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RMSE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3154680" y="5852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Linear Regression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5806440" y="5065776"/>
            <a:ext cx="30175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Text 58"/>
          <p:cNvSpPr/>
          <p:nvPr/>
        </p:nvSpPr>
        <p:spPr>
          <a:xfrm>
            <a:off x="5806440" y="512064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</a:rPr>
              <a:t>7.43%</a:t>
            </a:r>
            <a:endParaRPr lang="en-US" sz="2600" dirty="0"/>
          </a:p>
        </p:txBody>
      </p:sp>
      <p:sp>
        <p:nvSpPr>
          <p:cNvPr id="62" name="Text 59"/>
          <p:cNvSpPr/>
          <p:nvPr/>
        </p:nvSpPr>
        <p:spPr>
          <a:xfrm>
            <a:off x="5806440" y="56509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ETH MAPE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5806440" y="58521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EC5"/>
                </a:solidFill>
              </a:rPr>
              <a:t>vs Naive 9.66%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86584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PREDICTION VS ACTUAL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— 90-Day Test Set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170432"/>
          <a:ext cx="53949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5897880" y="1170432"/>
          <a:ext cx="29260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547872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● LR (green) tracks the actual price more closely than ARIMA (blue) in both BTC and ETH charts.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</a:rPr>
              <a:t>● ARIMA tends to lag — it reacts slowly to sudden directional changes (a known limitation of AR models).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● Both models outperform the Naive baseline, which would simply be a horizontal flat line at each point.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● Shown: first 30 days of 90-day test window for clarity. Full 90-day results reflected in KPI numbers.</a:t>
            </a:r>
            <a:endParaRPr lang="en-US" sz="850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320040" y="4315968"/>
          <a:ext cx="8503920" cy="713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991563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991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MODEL COMPARISON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Comparison — All KPIs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731"/>
                </a:solidFill>
              </a:rPr>
              <a:t>Bitcoin (BTC) — 90-day test set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4297680" cy="12435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MAE (↓ better)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RMSE (↓ better)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MAPE (↓ better)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vs Naive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</a:rPr>
                        <a:t>Naive Baseline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$4,024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$5,384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3.43%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</a:rPr>
                        <a:t>ARIMA(1,1,1)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3C5FD"/>
                          </a:solidFill>
                        </a:rPr>
                        <a:t>$3,093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3C5FD"/>
                          </a:solidFill>
                        </a:rPr>
                        <a:t>$3,942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3C5FD"/>
                          </a:solidFill>
                        </a:rPr>
                        <a:t>2.63%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-0.80%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★ Linear Regression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$3,034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$3,833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2.56%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-0.87%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0916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Ethereum (ETH) — 90-day test set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463040"/>
          <a:ext cx="4114800" cy="124358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vs Naive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</a:rPr>
                        <a:t>Naive Baseline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$432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$560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9.66%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EC5"/>
                          </a:solidFill>
                        </a:rPr>
                        <a:t>ARIMA(1,1,1)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3C5FD"/>
                          </a:solidFill>
                        </a:rPr>
                        <a:t>$345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3C5FD"/>
                          </a:solidFill>
                        </a:rPr>
                        <a:t>$414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3C5FD"/>
                          </a:solidFill>
                        </a:rPr>
                        <a:t>7.75%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-1.91%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★ Linear Regression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$333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$399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7.43%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-2.23%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hart 0"/>
          <p:cNvGraphicFramePr/>
          <p:nvPr/>
        </p:nvGraphicFramePr>
        <p:xfrm>
          <a:off x="320040" y="2798064"/>
          <a:ext cx="5394960" cy="2157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5897880" y="2798064"/>
            <a:ext cx="2926080" cy="2157984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8"/>
          <p:cNvSpPr/>
          <p:nvPr/>
        </p:nvSpPr>
        <p:spPr>
          <a:xfrm>
            <a:off x="5897880" y="2798064"/>
            <a:ext cx="50292" cy="215798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94436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92240" y="2944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Winner: Linear Regression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053328" y="3346704"/>
            <a:ext cx="2651760" cy="36576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1"/>
          <p:cNvSpPr/>
          <p:nvPr/>
        </p:nvSpPr>
        <p:spPr>
          <a:xfrm>
            <a:off x="6053328" y="3456432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</a:rPr>
              <a:t>BTC MAPE: 2.56% (best)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</a:rPr>
              <a:t>ETH MAPE: 7.43% (best)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</a:rPr>
              <a:t>BTC MAE: $3,034 (best)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</a:rPr>
              <a:t>ETH MAE: $333 (best)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</a:rPr>
              <a:t>Beats Naive on all 6 KPIs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</a:rPr>
              <a:t>Beats ARIMA on all 6 KPIs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BEC5"/>
                </a:solidFill>
              </a:rPr>
              <a:t>More features = better fit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399032" cy="2560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</a:rPr>
              <a:t>CONCLUSION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Best Model, Limitations &amp; Next Steps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594360" cy="43891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0292" cy="10058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1673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12618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Best Model: Linear Regression with Lag Features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9264" y="16459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BTC MAPE: </a:t>
            </a:r>
            <a:r>
              <a:rPr lang="en-US" sz="950" b="1" dirty="0">
                <a:solidFill>
                  <a:srgbClr val="22C55E"/>
                </a:solidFill>
              </a:rPr>
              <a:t>2.56%</a:t>
            </a:r>
            <a:r>
              <a:rPr lang="en-US" sz="950" dirty="0">
                <a:solidFill>
                  <a:srgbClr val="B0BEC5"/>
                </a:solidFill>
              </a:rPr>
              <a:t>  ·  BTC MAE: </a:t>
            </a:r>
            <a:r>
              <a:rPr lang="en-US" sz="950" b="1" dirty="0">
                <a:solidFill>
                  <a:srgbClr val="22C55E"/>
                </a:solidFill>
              </a:rPr>
              <a:t>$3,034</a:t>
            </a:r>
            <a:r>
              <a:rPr lang="en-US" sz="950" dirty="0">
                <a:solidFill>
                  <a:srgbClr val="B0BEC5"/>
                </a:solidFill>
              </a:rPr>
              <a:t>  ·  ETH MAPE: </a:t>
            </a:r>
            <a:r>
              <a:rPr lang="en-US" sz="950" b="1" dirty="0">
                <a:solidFill>
                  <a:srgbClr val="22C55E"/>
                </a:solidFill>
              </a:rPr>
              <a:t>7.43%</a:t>
            </a:r>
            <a:r>
              <a:rPr lang="en-US" sz="950" dirty="0">
                <a:solidFill>
                  <a:srgbClr val="B0BEC5"/>
                </a:solidFill>
              </a:rPr>
              <a:t>  ·  ETH MAE: </a:t>
            </a:r>
            <a:r>
              <a:rPr lang="en-US" sz="950" b="1" dirty="0">
                <a:solidFill>
                  <a:srgbClr val="22C55E"/>
                </a:solidFill>
              </a:rPr>
              <a:t>$333</a:t>
            </a:r>
            <a:r>
              <a:rPr lang="en-US" sz="950" dirty="0">
                <a:solidFill>
                  <a:srgbClr val="B0BEC5"/>
                </a:solidFill>
              </a:rPr>
              <a:t>  ·  Beats Naive &amp; ARIMA on all KPIs.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9264" y="192024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Reason: 6 engineered features give the model richer context than ARIMA's single price sequence. MA20 and MA50 carry strong trend signal; vol30 adds risk context.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" y="2359152"/>
            <a:ext cx="4069080" cy="2578608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20040" y="2359152"/>
            <a:ext cx="50292" cy="2578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46888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2920" y="28346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B0BEC5"/>
                </a:solidFill>
              </a:rPr>
              <a:t>Linear Regression assumes relationships stay constant — but crypto markets shift regime rapidly.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B0BEC5"/>
                </a:solidFill>
              </a:rPr>
              <a:t>Models cannot predict extreme events (crashes, regulatory news, exchange collapses) — no training data for unprecedented events.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B0BEC5"/>
                </a:solidFill>
              </a:rPr>
              <a:t>Our data is simulated to match Colab statistics — production models need live API data.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B0BEC5"/>
                </a:solidFill>
              </a:rPr>
              <a:t>MAPE for ETH (~7.4%) is higher than BTC (~2.6%) because ETH is more volatile and harder to predict.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B0BEC5"/>
                </a:solidFill>
              </a:rPr>
              <a:t>No sentiment data — Twitter/news sentiment is a major crypto price driver that we have not included.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4754880" y="2359152"/>
            <a:ext cx="4069080" cy="2578608"/>
          </a:xfrm>
          <a:prstGeom prst="rect">
            <a:avLst/>
          </a:prstGeom>
          <a:solidFill>
            <a:srgbClr val="111827"/>
          </a:solidFill>
          <a:ln w="6350">
            <a:solidFill>
              <a:srgbClr val="F7B73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4754880" y="2359152"/>
            <a:ext cx="50292" cy="257860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46888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How to Improve Further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0749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80" b="1" dirty="0">
                <a:solidFill>
                  <a:srgbClr val="A855F7"/>
                </a:solidFill>
              </a:rPr>
              <a:t>More data: </a:t>
            </a:r>
            <a:r>
              <a:rPr lang="en-US" sz="880" dirty="0">
                <a:solidFill>
                  <a:srgbClr val="B0BEC5"/>
                </a:solidFill>
              </a:rPr>
              <a:t>Add on-chain metrics (transaction volume, active wallets) and Google Trends sentiment scores.</a:t>
            </a:r>
            <a:endParaRPr lang="en-US" sz="880" dirty="0"/>
          </a:p>
        </p:txBody>
      </p:sp>
      <p:sp>
        <p:nvSpPr>
          <p:cNvPr id="23" name="Text 18"/>
          <p:cNvSpPr/>
          <p:nvPr/>
        </p:nvSpPr>
        <p:spPr>
          <a:xfrm>
            <a:off x="5074920" y="3236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80" b="1" dirty="0">
                <a:solidFill>
                  <a:srgbClr val="A855F7"/>
                </a:solidFill>
              </a:rPr>
              <a:t>Better features: </a:t>
            </a:r>
            <a:r>
              <a:rPr lang="en-US" sz="880" dirty="0">
                <a:solidFill>
                  <a:srgbClr val="B0BEC5"/>
                </a:solidFill>
              </a:rPr>
              <a:t>RSI (Relative Strength Index), MACD, Bollinger Bands — standard technical indicators.</a:t>
            </a:r>
            <a:endParaRPr lang="en-US" sz="880" dirty="0"/>
          </a:p>
        </p:txBody>
      </p:sp>
      <p:sp>
        <p:nvSpPr>
          <p:cNvPr id="24" name="Text 19"/>
          <p:cNvSpPr/>
          <p:nvPr/>
        </p:nvSpPr>
        <p:spPr>
          <a:xfrm>
            <a:off x="507492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80" b="1" dirty="0">
                <a:solidFill>
                  <a:srgbClr val="A855F7"/>
                </a:solidFill>
              </a:rPr>
              <a:t>Advanced models: </a:t>
            </a:r>
            <a:r>
              <a:rPr lang="en-US" sz="880" dirty="0">
                <a:solidFill>
                  <a:srgbClr val="B0BEC5"/>
                </a:solidFill>
              </a:rPr>
              <a:t>LSTM neural network handles longer dependencies; XGBoost handles non-linear patterns better.</a:t>
            </a:r>
            <a:endParaRPr lang="en-US" sz="880" dirty="0"/>
          </a:p>
        </p:txBody>
      </p:sp>
      <p:sp>
        <p:nvSpPr>
          <p:cNvPr id="25" name="Text 20"/>
          <p:cNvSpPr/>
          <p:nvPr/>
        </p:nvSpPr>
        <p:spPr>
          <a:xfrm>
            <a:off x="507492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80" b="1" dirty="0">
                <a:solidFill>
                  <a:srgbClr val="A855F7"/>
                </a:solidFill>
              </a:rPr>
              <a:t>Cross-asset features: </a:t>
            </a:r>
            <a:r>
              <a:rPr lang="en-US" sz="880" dirty="0">
                <a:solidFill>
                  <a:srgbClr val="B0BEC5"/>
                </a:solidFill>
              </a:rPr>
              <a:t>Add BTC lag features to ETH model — correlation r=0.78 suggests BTC leads ETH.</a:t>
            </a:r>
            <a:endParaRPr lang="en-US" sz="880" dirty="0"/>
          </a:p>
        </p:txBody>
      </p:sp>
      <p:sp>
        <p:nvSpPr>
          <p:cNvPr id="26" name="Text 21"/>
          <p:cNvSpPr/>
          <p:nvPr/>
        </p:nvSpPr>
        <p:spPr>
          <a:xfrm>
            <a:off x="5074920" y="4443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80" b="1" dirty="0">
                <a:solidFill>
                  <a:srgbClr val="A855F7"/>
                </a:solidFill>
              </a:rPr>
              <a:t>VaR modeling: </a:t>
            </a:r>
            <a:r>
              <a:rPr lang="en-US" sz="880" dirty="0">
                <a:solidFill>
                  <a:srgbClr val="B0BEC5"/>
                </a:solidFill>
              </a:rPr>
              <a:t>Add Value at Risk (95%) alongside price prediction for FSA-compliant risk disclosure.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320040" y="5029200"/>
            <a:ext cx="8503920" cy="329184"/>
          </a:xfrm>
          <a:prstGeom prst="rect">
            <a:avLst/>
          </a:prstGeom>
          <a:solidFill>
            <a:srgbClr val="1A223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084064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6384" y="506577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B731"/>
                </a:solidFill>
              </a:rPr>
              <a:t>Key Takeaway: Linear Regression with lag features is practical, interpretable, and outperforms standard benchmarks — making it suitable for NovaCoin's advisory tool as a first production model.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5120640" cy="5143500"/>
          </a:xfrm>
          <a:prstGeom prst="rect">
            <a:avLst/>
          </a:prstGeom>
          <a:solidFill>
            <a:srgbClr val="1A223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0" y="-274320"/>
            <a:ext cx="3840480" cy="3840480"/>
          </a:xfrm>
          <a:prstGeom prst="line">
            <a:avLst/>
          </a:prstGeom>
          <a:solidFill>
            <a:srgbClr val="F7B731">
              <a:alpha val="12000"/>
            </a:srgbClr>
          </a:solidFill>
          <a:ln w="12700">
            <a:solidFill>
              <a:srgbClr val="F7B73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583680" y="365760"/>
            <a:ext cx="2560320" cy="2560320"/>
          </a:xfrm>
          <a:prstGeom prst="lin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217920" y="594360"/>
            <a:ext cx="25603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9601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60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457200" y="168249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66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4114800" cy="36576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57200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BEC5"/>
                </a:solidFill>
              </a:rPr>
              <a:t>Questions &amp; Discussion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962656"/>
            <a:ext cx="1325880" cy="713232"/>
          </a:xfrm>
          <a:prstGeom prst="rect">
            <a:avLst/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29809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Naive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720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BTC 3.43%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ETH 9.66%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874520" y="2962656"/>
            <a:ext cx="1325880" cy="713232"/>
          </a:xfrm>
          <a:prstGeom prst="rect">
            <a:avLst/>
          </a:prstGeom>
          <a:solidFill>
            <a:srgbClr val="111827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874520" y="29809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</a:rPr>
              <a:t>ARIMA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87452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BTC 2.63%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ETH 7.75%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91840" y="2962656"/>
            <a:ext cx="1325880" cy="713232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291840" y="29809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Linear Reg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9184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BTC 2.56%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</a:rPr>
              <a:t>ETH 7.43%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37673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Any questions on our methodology?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Feedback on our model choices?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Happy to discuss future improvements.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4805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Babu Md Moniruzzaman Sadi  |  Rahman Nymur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</a:rPr>
              <a:t>Atkia Jahan Lamia  |  Jinan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7B731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1841</Words>
  <Application>Microsoft Office PowerPoint</Application>
  <PresentationFormat>On-screen Show (16:9)</PresentationFormat>
  <Paragraphs>275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Data Analysis – Presentation 3</dc:title>
  <dc:subject>PptxGenJS Presentation</dc:subject>
  <dc:creator>PptxGenJS</dc:creator>
  <cp:lastModifiedBy>ms moniruzzaman sadi</cp:lastModifiedBy>
  <cp:revision>9</cp:revision>
  <dcterms:created xsi:type="dcterms:W3CDTF">2026-06-29T05:18:55Z</dcterms:created>
  <dcterms:modified xsi:type="dcterms:W3CDTF">2026-07-09T05:21:21Z</dcterms:modified>
</cp:coreProperties>
</file>